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8" r:id="rId2"/>
    <p:sldId id="259" r:id="rId3"/>
    <p:sldId id="260" r:id="rId4"/>
    <p:sldId id="262" r:id="rId5"/>
    <p:sldId id="264" r:id="rId6"/>
    <p:sldId id="265" r:id="rId7"/>
    <p:sldId id="266" r:id="rId8"/>
    <p:sldId id="267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96" y="-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108C-A1FC-4366-A052-8D51A58BDE3C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8295D75-FEDA-444A-8E7A-3DD8A6E8D35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108C-A1FC-4366-A052-8D51A58BDE3C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95D75-FEDA-444A-8E7A-3DD8A6E8D35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108C-A1FC-4366-A052-8D51A58BDE3C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8295D75-FEDA-444A-8E7A-3DD8A6E8D356}" type="slidenum">
              <a:rPr lang="en-IN" smtClean="0"/>
              <a:t>‹#›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108C-A1FC-4366-A052-8D51A58BDE3C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95D75-FEDA-444A-8E7A-3DD8A6E8D35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108C-A1FC-4366-A052-8D51A58BDE3C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95D75-FEDA-444A-8E7A-3DD8A6E8D35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108C-A1FC-4366-A052-8D51A58BDE3C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95D75-FEDA-444A-8E7A-3DD8A6E8D35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108C-A1FC-4366-A052-8D51A58BDE3C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95D75-FEDA-444A-8E7A-3DD8A6E8D35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108C-A1FC-4366-A052-8D51A58BDE3C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95D75-FEDA-444A-8E7A-3DD8A6E8D356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108C-A1FC-4366-A052-8D51A58BDE3C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8295D75-FEDA-444A-8E7A-3DD8A6E8D356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108C-A1FC-4366-A052-8D51A58BDE3C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95D75-FEDA-444A-8E7A-3DD8A6E8D35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108C-A1FC-4366-A052-8D51A58BDE3C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95D75-FEDA-444A-8E7A-3DD8A6E8D35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4FB9108C-A1FC-4366-A052-8D51A58BDE3C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D8295D75-FEDA-444A-8E7A-3DD8A6E8D356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2060848"/>
            <a:ext cx="7762056" cy="4248472"/>
          </a:xfrm>
        </p:spPr>
        <p:txBody>
          <a:bodyPr anchor="t">
            <a:normAutofit fontScale="90000"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Market Potential</a:t>
            </a:r>
            <a:b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Index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MPI)  </a:t>
            </a:r>
            <a:b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b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by:            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Vanshika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Arora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</a:t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</a:t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Date: 13</a:t>
            </a:r>
            <a:r>
              <a:rPr lang="en-US" sz="20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November  2025                         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672"/>
            <a:ext cx="7772400" cy="1512168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 Expansion </a:t>
            </a:r>
            <a:r>
              <a:rPr lang="en-US" sz="32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</a:t>
            </a:r>
          </a:p>
          <a:p>
            <a:pPr algn="ctr"/>
            <a:r>
              <a:rPr lang="en-US" sz="32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Indian Cities Analysis</a:t>
            </a:r>
            <a:b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1988840"/>
            <a:ext cx="4320480" cy="4248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801991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19256" cy="1371600"/>
          </a:xfrm>
        </p:spPr>
        <p:txBody>
          <a:bodyPr>
            <a:normAutofit/>
          </a:bodyPr>
          <a:lstStyle/>
          <a:p>
            <a:r>
              <a:rPr lang="en-US" dirty="0"/>
              <a:t>Objective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dirty="0" smtClean="0"/>
              <a:t>Objective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Identify high-potential cities in India for market expansion.</a:t>
            </a:r>
          </a:p>
          <a:p>
            <a:pPr lvl="1"/>
            <a:r>
              <a:rPr lang="en-US" dirty="0"/>
              <a:t>Use Market Potential Index (MPI) to rank cities based on key metrics.</a:t>
            </a:r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Outcome</a:t>
            </a:r>
            <a:r>
              <a:rPr lang="en-US" dirty="0"/>
              <a:t>: Prioritize cities with the highest potential for investment and growth.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493760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-99392"/>
            <a:ext cx="7139136" cy="1524318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Arial Black" panose="020B0A04020102020204" pitchFamily="34" charset="0"/>
              </a:rPr>
              <a:t>Data &amp;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4618856" cy="4373563"/>
          </a:xfrm>
        </p:spPr>
        <p:txBody>
          <a:bodyPr>
            <a:normAutofit fontScale="77500" lnSpcReduction="20000"/>
          </a:bodyPr>
          <a:lstStyle/>
          <a:p>
            <a:r>
              <a:rPr lang="en-IN" dirty="0" smtClean="0"/>
              <a:t>Data </a:t>
            </a:r>
            <a:r>
              <a:rPr lang="en-IN" dirty="0"/>
              <a:t>Sources: </a:t>
            </a:r>
            <a:r>
              <a:rPr lang="en-IN" b="0" dirty="0" smtClean="0"/>
              <a:t>[</a:t>
            </a:r>
            <a:r>
              <a:rPr lang="en-US" b="0" dirty="0" smtClean="0"/>
              <a:t>World Bank Open Data, Kaggle Datasets [Statista] </a:t>
            </a:r>
            <a:r>
              <a:rPr lang="en-US" b="0" dirty="0"/>
              <a:t>(for reference </a:t>
            </a:r>
            <a:r>
              <a:rPr lang="en-US" b="0" dirty="0" smtClean="0"/>
              <a:t>values), IMF Data</a:t>
            </a:r>
          </a:p>
          <a:p>
            <a:endParaRPr lang="en-IN" b="0" dirty="0"/>
          </a:p>
          <a:p>
            <a:r>
              <a:rPr lang="en-IN" dirty="0"/>
              <a:t>Metrics Used for MPI:</a:t>
            </a:r>
          </a:p>
          <a:p>
            <a:pPr lvl="1"/>
            <a:r>
              <a:rPr lang="en-IN" dirty="0"/>
              <a:t>Population &amp; </a:t>
            </a:r>
            <a:r>
              <a:rPr lang="en-IN" dirty="0" smtClean="0"/>
              <a:t>urbanization</a:t>
            </a:r>
            <a:endParaRPr lang="en-IN" dirty="0"/>
          </a:p>
          <a:p>
            <a:pPr lvl="1"/>
            <a:r>
              <a:rPr lang="en-IN" dirty="0"/>
              <a:t>Average income &amp; purchasing power</a:t>
            </a:r>
          </a:p>
          <a:p>
            <a:pPr lvl="1"/>
            <a:r>
              <a:rPr lang="en-IN" dirty="0"/>
              <a:t>Market size &amp; growth </a:t>
            </a:r>
            <a:r>
              <a:rPr lang="en-IN" dirty="0" smtClean="0"/>
              <a:t>trends</a:t>
            </a:r>
          </a:p>
          <a:p>
            <a:pPr marL="274320" lvl="1" indent="0">
              <a:buNone/>
            </a:pPr>
            <a:endParaRPr lang="en-IN" dirty="0"/>
          </a:p>
          <a:p>
            <a:r>
              <a:rPr lang="en-IN" dirty="0"/>
              <a:t>Methodology:</a:t>
            </a:r>
          </a:p>
          <a:p>
            <a:pPr lvl="1"/>
            <a:r>
              <a:rPr lang="en-IN" dirty="0"/>
              <a:t>Normalized each metric for comparability</a:t>
            </a:r>
          </a:p>
          <a:p>
            <a:pPr lvl="1"/>
            <a:r>
              <a:rPr lang="en-IN" dirty="0"/>
              <a:t>Weighted metrics based on importance</a:t>
            </a:r>
          </a:p>
          <a:p>
            <a:pPr lvl="1"/>
            <a:r>
              <a:rPr lang="en-IN" dirty="0"/>
              <a:t>Calculated MPI score for each </a:t>
            </a:r>
            <a:r>
              <a:rPr lang="en-IN" dirty="0" smtClean="0"/>
              <a:t>city</a:t>
            </a:r>
          </a:p>
          <a:p>
            <a:pPr marL="274320" lvl="1" indent="0">
              <a:buNone/>
            </a:pPr>
            <a:endParaRPr lang="en-IN" dirty="0"/>
          </a:p>
          <a:p>
            <a:r>
              <a:rPr lang="en-IN" dirty="0"/>
              <a:t>Tools: Power BI, </a:t>
            </a:r>
            <a:r>
              <a:rPr lang="en-IN" dirty="0" smtClean="0"/>
              <a:t>Excel</a:t>
            </a:r>
          </a:p>
          <a:p>
            <a:r>
              <a:rPr lang="en-US" dirty="0" smtClean="0"/>
              <a:t>AI Tools: Chatgpt, Perplexity </a:t>
            </a:r>
            <a:endParaRPr lang="en-IN" dirty="0"/>
          </a:p>
          <a:p>
            <a:endParaRPr lang="en-IN" dirty="0"/>
          </a:p>
        </p:txBody>
      </p:sp>
      <p:sp>
        <p:nvSpPr>
          <p:cNvPr id="4" name="AutoShape 2" descr="Supported Power BI Data Sources And How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1772816"/>
            <a:ext cx="3528392" cy="4507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094445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1556792"/>
            <a:ext cx="4680520" cy="432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dirty="0"/>
              <a:t>Top Cities by MPI Score:</a:t>
            </a:r>
            <a:br>
              <a:rPr lang="en-US" dirty="0"/>
            </a:br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MPI </a:t>
            </a:r>
            <a:r>
              <a:rPr lang="en-US" dirty="0"/>
              <a:t>Categories: </a:t>
            </a:r>
            <a:r>
              <a:rPr lang="en-US" b="0" dirty="0"/>
              <a:t>High, Medium, Low potential</a:t>
            </a:r>
          </a:p>
          <a:p>
            <a:endParaRPr lang="en-US" dirty="0"/>
          </a:p>
          <a:p>
            <a:r>
              <a:rPr lang="en-US" dirty="0"/>
              <a:t>Insight: </a:t>
            </a:r>
            <a:r>
              <a:rPr lang="en-US" b="0" dirty="0"/>
              <a:t>Cities with higher MPI scores are prime targets for market expansion.</a:t>
            </a:r>
          </a:p>
          <a:p>
            <a:endParaRPr lang="en-IN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Market Potential Index (MPI)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115616" y="2553002"/>
            <a:ext cx="978408" cy="484632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52378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 Cities for Expansion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3528" y="1628800"/>
            <a:ext cx="4392488" cy="4525963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dirty="0" smtClean="0"/>
              <a:t>Key </a:t>
            </a:r>
            <a:r>
              <a:rPr lang="en-US" dirty="0"/>
              <a:t>Points: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b="0" dirty="0"/>
              <a:t>Metro cities dominate the top ranks due to higher income and urbanization.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b="0" dirty="0"/>
              <a:t>Tier-2 cities show emerging potential, suitable for phased expansion.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b="0" dirty="0"/>
              <a:t>Focused strategies in high-MPI cities can maximize ROI.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1484784"/>
            <a:ext cx="4176465" cy="432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4129907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Insights: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0" dirty="0"/>
              <a:t>Regions with untapped potential identified for strategic investment.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0" dirty="0"/>
              <a:t>Top 3–5 cities present the highest short-term growth opportunities.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0" dirty="0"/>
              <a:t>Some high-population cities have lower MPI due to saturation or lower purchasing power.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0" dirty="0"/>
              <a:t>MPI provides a quantifiable measure to guide expansion decisions.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744848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6792"/>
            <a:ext cx="7620000" cy="4569371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dirty="0" smtClean="0"/>
              <a:t>Immediate </a:t>
            </a:r>
            <a:r>
              <a:rPr lang="en-US" dirty="0"/>
              <a:t>Actions: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0" dirty="0"/>
              <a:t>Prioritize top 5 cities for entry and initial marketing campaigns.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0" dirty="0"/>
              <a:t>Plan phased expansion in Tier-2 cities to capture emerging markets.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0" dirty="0"/>
              <a:t>Allocate resources based on MPI category and market potential</a:t>
            </a:r>
            <a:r>
              <a:rPr lang="en-US" b="0" dirty="0" smtClean="0"/>
              <a:t>.</a:t>
            </a:r>
            <a:endParaRPr lang="en-US" b="0" dirty="0"/>
          </a:p>
          <a:p>
            <a:r>
              <a:rPr lang="en-US" dirty="0"/>
              <a:t>Strategic Focus: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0" dirty="0"/>
              <a:t>Focus on high-MPI cities for maximum impact.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0" dirty="0"/>
              <a:t>Monitor Tier-2 cities for long-term growth opportunities.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12827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/>
              <a:t>Summary</a:t>
            </a:r>
            <a:r>
              <a:rPr lang="en-US" sz="2200" dirty="0"/>
              <a:t>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0" dirty="0"/>
              <a:t>MPI analysis highlights the most promising cities for market expansion.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0" dirty="0"/>
              <a:t>Metro and high-income cities lead in potential; Tier-2 cities show emerging opportunities.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0" dirty="0"/>
              <a:t>Recommendations offer a phased, data-driven approach to expansion strategy</a:t>
            </a:r>
            <a:r>
              <a:rPr lang="en-US" b="0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Call </a:t>
            </a:r>
            <a:r>
              <a:rPr lang="en-US" dirty="0"/>
              <a:t>to Action: </a:t>
            </a:r>
            <a:r>
              <a:rPr lang="en-US" b="0" dirty="0"/>
              <a:t>Implement expansion in high-MPI cities while monitoring Tier-2 growth trends.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91562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ssential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sential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sential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82</TotalTime>
  <Words>330</Words>
  <Application>Microsoft Office PowerPoint</Application>
  <PresentationFormat>On-screen Show (4:3)</PresentationFormat>
  <Paragraphs>62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Essential</vt:lpstr>
      <vt:lpstr>Market Potential Index (MPI)   Assessment                         Prepared by:                Vanshika Arora                                                                                                                         Date: 13TH November  2025                           </vt:lpstr>
      <vt:lpstr>Objective </vt:lpstr>
      <vt:lpstr>Data &amp; Methodology</vt:lpstr>
      <vt:lpstr>Market Potential Index (MPI)</vt:lpstr>
      <vt:lpstr>Top Cities for Expansion</vt:lpstr>
      <vt:lpstr>Key Insights</vt:lpstr>
      <vt:lpstr>Recommendations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Vansh</dc:creator>
  <cp:lastModifiedBy>Vansh</cp:lastModifiedBy>
  <cp:revision>7</cp:revision>
  <dcterms:created xsi:type="dcterms:W3CDTF">2025-11-13T13:48:33Z</dcterms:created>
  <dcterms:modified xsi:type="dcterms:W3CDTF">2025-11-13T15:11:33Z</dcterms:modified>
</cp:coreProperties>
</file>